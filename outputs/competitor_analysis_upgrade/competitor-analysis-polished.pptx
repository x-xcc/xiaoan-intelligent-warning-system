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3"/>
          </a:solidFill>
          <a:ln w="12700">
            <a:solidFill>
              <a:srgbClr val="06142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11868912" cy="6528816"/>
          </a:xfrm>
          <a:prstGeom prst="rect">
            <a:avLst/>
          </a:prstGeom>
          <a:solidFill>
            <a:srgbClr val="061423">
              <a:alpha val="0"/>
            </a:srgbClr>
          </a:solidFill>
          <a:ln w="12700">
            <a:solidFill>
              <a:srgbClr val="2C4767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28600"/>
            <a:ext cx="0" cy="685800"/>
          </a:xfrm>
          <a:prstGeom prst="line">
            <a:avLst/>
          </a:prstGeom>
          <a:noFill/>
          <a:ln w="12700">
            <a:solidFill>
              <a:srgbClr val="2A52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3272" y="228600"/>
            <a:ext cx="0" cy="685800"/>
          </a:xfrm>
          <a:prstGeom prst="line">
            <a:avLst/>
          </a:prstGeom>
          <a:noFill/>
          <a:ln w="12700">
            <a:solidFill>
              <a:srgbClr val="2A5278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46504" y="228600"/>
            <a:ext cx="0" cy="685800"/>
          </a:xfrm>
          <a:prstGeom prst="line">
            <a:avLst/>
          </a:prstGeom>
          <a:noFill/>
          <a:ln w="12700">
            <a:solidFill>
              <a:srgbClr val="2A5278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59736" y="228600"/>
            <a:ext cx="0" cy="685800"/>
          </a:xfrm>
          <a:prstGeom prst="line">
            <a:avLst/>
          </a:prstGeom>
          <a:noFill/>
          <a:ln w="12700">
            <a:solidFill>
              <a:srgbClr val="2A5278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72968" y="228600"/>
            <a:ext cx="0" cy="685800"/>
          </a:xfrm>
          <a:prstGeom prst="line">
            <a:avLst/>
          </a:prstGeom>
          <a:noFill/>
          <a:ln w="12700">
            <a:solidFill>
              <a:srgbClr val="2A5278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86200" y="228600"/>
            <a:ext cx="0" cy="685800"/>
          </a:xfrm>
          <a:prstGeom prst="line">
            <a:avLst/>
          </a:prstGeom>
          <a:noFill/>
          <a:ln w="12700">
            <a:solidFill>
              <a:srgbClr val="2A52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9432" y="228600"/>
            <a:ext cx="0" cy="685800"/>
          </a:xfrm>
          <a:prstGeom prst="line">
            <a:avLst/>
          </a:prstGeom>
          <a:noFill/>
          <a:ln w="12700">
            <a:solidFill>
              <a:srgbClr val="2A52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12664" y="228600"/>
            <a:ext cx="0" cy="685800"/>
          </a:xfrm>
          <a:prstGeom prst="line">
            <a:avLst/>
          </a:prstGeom>
          <a:noFill/>
          <a:ln w="12700">
            <a:solidFill>
              <a:srgbClr val="2A52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310896"/>
            <a:ext cx="3246120" cy="658368"/>
          </a:xfrm>
          <a:prstGeom prst="rect">
            <a:avLst/>
          </a:prstGeom>
          <a:solidFill>
            <a:srgbClr val="102A47">
              <a:alpha val="90000"/>
            </a:srgbClr>
          </a:solidFill>
          <a:ln w="12700">
            <a:solidFill>
              <a:srgbClr val="356E9E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51392" y="310896"/>
            <a:ext cx="2907792" cy="658368"/>
          </a:xfrm>
          <a:prstGeom prst="rect">
            <a:avLst/>
          </a:prstGeom>
          <a:solidFill>
            <a:srgbClr val="102A47">
              <a:alpha val="90000"/>
            </a:srgbClr>
          </a:solidFill>
          <a:ln w="12700">
            <a:solidFill>
              <a:srgbClr val="356E9E">
                <a:alpha val="3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57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竞品分析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089136" y="4389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B8D1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智慧治理新生态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676656" y="93268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8D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不是比谁功能更多，而是比谁更适合夜市场景先落地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89320" y="868680"/>
            <a:ext cx="841248" cy="256032"/>
          </a:xfrm>
          <a:prstGeom prst="roundRect">
            <a:avLst>
              <a:gd name="adj" fmla="val 42857"/>
            </a:avLst>
          </a:prstGeom>
          <a:solidFill>
            <a:srgbClr val="163E66">
              <a:alpha val="90000"/>
            </a:srgbClr>
          </a:solidFill>
          <a:ln w="12700">
            <a:solidFill>
              <a:srgbClr val="163E66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896112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单点试点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22008" y="868680"/>
            <a:ext cx="841248" cy="256032"/>
          </a:xfrm>
          <a:prstGeom prst="roundRect">
            <a:avLst>
              <a:gd name="adj" fmla="val 42857"/>
            </a:avLst>
          </a:prstGeom>
          <a:solidFill>
            <a:srgbClr val="285C8D">
              <a:alpha val="90000"/>
            </a:srgbClr>
          </a:solidFill>
          <a:ln w="12700">
            <a:solidFill>
              <a:srgbClr val="285C8D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22008" y="896112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轻量部署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854696" y="868680"/>
            <a:ext cx="713232" cy="256032"/>
          </a:xfrm>
          <a:prstGeom prst="roundRect">
            <a:avLst>
              <a:gd name="adj" fmla="val 42857"/>
            </a:avLst>
          </a:prstGeom>
          <a:solidFill>
            <a:srgbClr val="8C6B1C">
              <a:alpha val="90000"/>
            </a:srgbClr>
          </a:solidFill>
          <a:ln w="12700">
            <a:solidFill>
              <a:srgbClr val="8C6B1C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54696" y="896112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闭环快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0896" y="1225296"/>
            <a:ext cx="7973568" cy="4407408"/>
          </a:xfrm>
          <a:prstGeom prst="roundRect">
            <a:avLst>
              <a:gd name="adj" fmla="val 2490"/>
            </a:avLst>
          </a:prstGeom>
          <a:solidFill>
            <a:srgbClr val="0D2745">
              <a:alpha val="92000"/>
            </a:srgbClr>
          </a:solidFill>
          <a:ln w="12700">
            <a:solidFill>
              <a:srgbClr val="58B7EA">
                <a:alpha val="94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3101D">
                <a:alpha val="2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430768" y="1225296"/>
            <a:ext cx="3465576" cy="4407408"/>
          </a:xfrm>
          <a:prstGeom prst="roundRect">
            <a:avLst>
              <a:gd name="adj" fmla="val 3166"/>
            </a:avLst>
          </a:prstGeom>
          <a:solidFill>
            <a:srgbClr val="0A203A">
              <a:alpha val="90000"/>
            </a:srgbClr>
          </a:solidFill>
          <a:ln w="12700">
            <a:solidFill>
              <a:srgbClr val="FFD466">
                <a:alpha val="94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3101D">
                <a:alpha val="2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66928" y="13898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竞品适配矩阵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231136" y="1399032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D1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夜市场景的判断重点，不是平台规模，而是从上报到处置的闭环能力。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12064" y="1755648"/>
            <a:ext cx="7534656" cy="384048"/>
          </a:xfrm>
          <a:prstGeom prst="roundRect">
            <a:avLst>
              <a:gd name="adj" fmla="val 14286"/>
            </a:avLst>
          </a:prstGeom>
          <a:solidFill>
            <a:srgbClr val="123155">
              <a:alpha val="88000"/>
            </a:srgbClr>
          </a:solidFill>
          <a:ln w="12700">
            <a:solidFill>
              <a:srgbClr val="406D94">
                <a:alpha val="3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1856232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8D1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883664" y="185623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8D1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适配度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355848" y="185623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8D1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场景定位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788152" y="1856232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8D1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关键判断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12064" y="2194560"/>
            <a:ext cx="7534656" cy="530352"/>
          </a:xfrm>
          <a:prstGeom prst="roundRect">
            <a:avLst>
              <a:gd name="adj" fmla="val 8621"/>
            </a:avLst>
          </a:prstGeom>
          <a:solidFill>
            <a:srgbClr val="0E2A4A">
              <a:alpha val="92000"/>
            </a:srgbClr>
          </a:solidFill>
          <a:ln w="12700">
            <a:solidFill>
              <a:srgbClr val="355B7B">
                <a:alpha val="2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" y="2350008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4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宇视安防</a:t>
            </a:r>
            <a:endParaRPr lang="en-US" sz="1520" dirty="0"/>
          </a:p>
        </p:txBody>
      </p:sp>
      <p:sp>
        <p:nvSpPr>
          <p:cNvPr id="34" name="Shape 32"/>
          <p:cNvSpPr/>
          <p:nvPr/>
        </p:nvSpPr>
        <p:spPr>
          <a:xfrm>
            <a:off x="1901952" y="2386584"/>
            <a:ext cx="1920240" cy="118872"/>
          </a:xfrm>
          <a:prstGeom prst="roundRect">
            <a:avLst>
              <a:gd name="adj" fmla="val 46154"/>
            </a:avLst>
          </a:prstGeom>
          <a:solidFill>
            <a:srgbClr val="2A405A">
              <a:alpha val="94000"/>
            </a:srgbClr>
          </a:solidFill>
          <a:ln w="12700">
            <a:solidFill>
              <a:srgbClr val="C4D7E8">
                <a:alpha val="2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01952" y="2386584"/>
            <a:ext cx="1056132" cy="118872"/>
          </a:xfrm>
          <a:prstGeom prst="roundRect">
            <a:avLst>
              <a:gd name="adj" fmla="val 46154"/>
            </a:avLst>
          </a:prstGeom>
          <a:solidFill>
            <a:srgbClr val="3B77B5">
              <a:alpha val="90000"/>
            </a:srgbClr>
          </a:solidFill>
          <a:ln w="12700">
            <a:solidFill>
              <a:srgbClr val="3B77B5">
                <a:alpha val="8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13632" y="23225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55%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590288" y="233172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视频监控 / AIoT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72784" y="2304288"/>
            <a:ext cx="1737360" cy="219456"/>
          </a:xfrm>
          <a:prstGeom prst="roundRect">
            <a:avLst>
              <a:gd name="adj" fmla="val 33333"/>
            </a:avLst>
          </a:prstGeom>
          <a:solidFill>
            <a:srgbClr val="173C61">
              <a:alpha val="82000"/>
            </a:srgbClr>
          </a:solidFill>
          <a:ln w="12700">
            <a:solidFill>
              <a:srgbClr val="4C7598">
                <a:alpha val="4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82512" y="2340864"/>
            <a:ext cx="15179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盲区补巡和处置闭环较弱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12064" y="2871216"/>
            <a:ext cx="7534656" cy="530352"/>
          </a:xfrm>
          <a:prstGeom prst="roundRect">
            <a:avLst>
              <a:gd name="adj" fmla="val 8621"/>
            </a:avLst>
          </a:prstGeom>
          <a:solidFill>
            <a:srgbClr val="0B2340">
              <a:alpha val="92000"/>
            </a:srgbClr>
          </a:solidFill>
          <a:ln w="12700">
            <a:solidFill>
              <a:srgbClr val="355B7B">
                <a:alpha val="2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4944" y="3026664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4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海康平台</a:t>
            </a:r>
            <a:endParaRPr lang="en-US" sz="1520" dirty="0"/>
          </a:p>
        </p:txBody>
      </p:sp>
      <p:sp>
        <p:nvSpPr>
          <p:cNvPr id="42" name="Shape 40"/>
          <p:cNvSpPr/>
          <p:nvPr/>
        </p:nvSpPr>
        <p:spPr>
          <a:xfrm>
            <a:off x="1901952" y="3063240"/>
            <a:ext cx="1920240" cy="118872"/>
          </a:xfrm>
          <a:prstGeom prst="roundRect">
            <a:avLst>
              <a:gd name="adj" fmla="val 46154"/>
            </a:avLst>
          </a:prstGeom>
          <a:solidFill>
            <a:srgbClr val="2A405A">
              <a:alpha val="94000"/>
            </a:srgbClr>
          </a:solidFill>
          <a:ln w="12700">
            <a:solidFill>
              <a:srgbClr val="C4D7E8">
                <a:alpha val="2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901952" y="3063240"/>
            <a:ext cx="1190549" cy="118872"/>
          </a:xfrm>
          <a:prstGeom prst="roundRect">
            <a:avLst>
              <a:gd name="adj" fmla="val 46154"/>
            </a:avLst>
          </a:prstGeom>
          <a:solidFill>
            <a:srgbClr val="3B77B5">
              <a:alpha val="90000"/>
            </a:srgbClr>
          </a:solidFill>
          <a:ln w="12700">
            <a:solidFill>
              <a:srgbClr val="3B77B5">
                <a:alpha val="8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13632" y="2999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62%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590288" y="300837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智慧城市 / 警务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272784" y="2980944"/>
            <a:ext cx="1737360" cy="219456"/>
          </a:xfrm>
          <a:prstGeom prst="roundRect">
            <a:avLst>
              <a:gd name="adj" fmla="val 33333"/>
            </a:avLst>
          </a:prstGeom>
          <a:solidFill>
            <a:srgbClr val="173C61">
              <a:alpha val="82000"/>
            </a:srgbClr>
          </a:solidFill>
          <a:ln w="12700">
            <a:solidFill>
              <a:srgbClr val="4C7598">
                <a:alpha val="4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82512" y="3017520"/>
            <a:ext cx="15179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平台完整，项目实施偏重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12064" y="3547872"/>
            <a:ext cx="7534656" cy="530352"/>
          </a:xfrm>
          <a:prstGeom prst="roundRect">
            <a:avLst>
              <a:gd name="adj" fmla="val 8621"/>
            </a:avLst>
          </a:prstGeom>
          <a:solidFill>
            <a:srgbClr val="0E2A4A">
              <a:alpha val="92000"/>
            </a:srgbClr>
          </a:solidFill>
          <a:ln w="12700">
            <a:solidFill>
              <a:srgbClr val="355B7B">
                <a:alpha val="25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4944" y="3703320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4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大华物联</a:t>
            </a:r>
            <a:endParaRPr lang="en-US" sz="1520" dirty="0"/>
          </a:p>
        </p:txBody>
      </p:sp>
      <p:sp>
        <p:nvSpPr>
          <p:cNvPr id="50" name="Shape 48"/>
          <p:cNvSpPr/>
          <p:nvPr/>
        </p:nvSpPr>
        <p:spPr>
          <a:xfrm>
            <a:off x="1901952" y="3739896"/>
            <a:ext cx="1920240" cy="118872"/>
          </a:xfrm>
          <a:prstGeom prst="roundRect">
            <a:avLst>
              <a:gd name="adj" fmla="val 46154"/>
            </a:avLst>
          </a:prstGeom>
          <a:solidFill>
            <a:srgbClr val="2A405A">
              <a:alpha val="94000"/>
            </a:srgbClr>
          </a:solidFill>
          <a:ln w="12700">
            <a:solidFill>
              <a:srgbClr val="C4D7E8">
                <a:alpha val="28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01952" y="3739896"/>
            <a:ext cx="1152144" cy="118872"/>
          </a:xfrm>
          <a:prstGeom prst="roundRect">
            <a:avLst>
              <a:gd name="adj" fmla="val 46154"/>
            </a:avLst>
          </a:prstGeom>
          <a:solidFill>
            <a:srgbClr val="3B77B5">
              <a:alpha val="90000"/>
            </a:srgbClr>
          </a:solidFill>
          <a:ln w="12700">
            <a:solidFill>
              <a:srgbClr val="3B77B5">
                <a:alpha val="8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13632" y="36758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60%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4590288" y="368503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视频物联 / 安防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272784" y="3657600"/>
            <a:ext cx="1737360" cy="219456"/>
          </a:xfrm>
          <a:prstGeom prst="roundRect">
            <a:avLst>
              <a:gd name="adj" fmla="val 33333"/>
            </a:avLst>
          </a:prstGeom>
          <a:solidFill>
            <a:srgbClr val="173C61">
              <a:alpha val="82000"/>
            </a:srgbClr>
          </a:solidFill>
          <a:ln w="12700">
            <a:solidFill>
              <a:srgbClr val="4C7598">
                <a:alpha val="45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82512" y="3694176"/>
            <a:ext cx="15179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感知强，跨端流程较散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12064" y="4224528"/>
            <a:ext cx="7534656" cy="530352"/>
          </a:xfrm>
          <a:prstGeom prst="roundRect">
            <a:avLst>
              <a:gd name="adj" fmla="val 8621"/>
            </a:avLst>
          </a:prstGeom>
          <a:solidFill>
            <a:srgbClr val="0B2340">
              <a:alpha val="92000"/>
            </a:srgbClr>
          </a:solidFill>
          <a:ln w="12700">
            <a:solidFill>
              <a:srgbClr val="355B7B">
                <a:alpha val="25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4944" y="4379976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4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安保巡更</a:t>
            </a:r>
            <a:endParaRPr lang="en-US" sz="1520" dirty="0"/>
          </a:p>
        </p:txBody>
      </p:sp>
      <p:sp>
        <p:nvSpPr>
          <p:cNvPr id="58" name="Shape 56"/>
          <p:cNvSpPr/>
          <p:nvPr/>
        </p:nvSpPr>
        <p:spPr>
          <a:xfrm>
            <a:off x="1901952" y="4416552"/>
            <a:ext cx="1920240" cy="118872"/>
          </a:xfrm>
          <a:prstGeom prst="roundRect">
            <a:avLst>
              <a:gd name="adj" fmla="val 46154"/>
            </a:avLst>
          </a:prstGeom>
          <a:solidFill>
            <a:srgbClr val="2A405A">
              <a:alpha val="94000"/>
            </a:srgbClr>
          </a:solidFill>
          <a:ln w="12700">
            <a:solidFill>
              <a:srgbClr val="C4D7E8">
                <a:alpha val="28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01952" y="4416552"/>
            <a:ext cx="806501" cy="118872"/>
          </a:xfrm>
          <a:prstGeom prst="roundRect">
            <a:avLst>
              <a:gd name="adj" fmla="val 46154"/>
            </a:avLst>
          </a:prstGeom>
          <a:solidFill>
            <a:srgbClr val="3B77B5">
              <a:alpha val="90000"/>
            </a:srgbClr>
          </a:solidFill>
          <a:ln w="12700">
            <a:solidFill>
              <a:srgbClr val="3B77B5">
                <a:alpha val="8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913632" y="435254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42%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4590288" y="436168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巡逻打卡 / 派单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6272784" y="4334256"/>
            <a:ext cx="1737360" cy="219456"/>
          </a:xfrm>
          <a:prstGeom prst="roundRect">
            <a:avLst>
              <a:gd name="adj" fmla="val 33333"/>
            </a:avLst>
          </a:prstGeom>
          <a:solidFill>
            <a:srgbClr val="173C61">
              <a:alpha val="82000"/>
            </a:srgbClr>
          </a:solidFill>
          <a:ln w="12700">
            <a:solidFill>
              <a:srgbClr val="4C7598">
                <a:alpha val="45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82512" y="4370832"/>
            <a:ext cx="15179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记录清楚，分析不足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512064" y="4901184"/>
            <a:ext cx="7534656" cy="530352"/>
          </a:xfrm>
          <a:prstGeom prst="roundRect">
            <a:avLst>
              <a:gd name="adj" fmla="val 8621"/>
            </a:avLst>
          </a:prstGeom>
          <a:solidFill>
            <a:srgbClr val="0E2A4A">
              <a:alpha val="92000"/>
            </a:srgbClr>
          </a:solidFill>
          <a:ln w="12700">
            <a:solidFill>
              <a:srgbClr val="355B7B">
                <a:alpha val="25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94944" y="5056632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FFD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烟火守夜人</a:t>
            </a:r>
            <a:endParaRPr lang="en-US" sz="1360" dirty="0"/>
          </a:p>
        </p:txBody>
      </p:sp>
      <p:sp>
        <p:nvSpPr>
          <p:cNvPr id="66" name="Shape 64"/>
          <p:cNvSpPr/>
          <p:nvPr/>
        </p:nvSpPr>
        <p:spPr>
          <a:xfrm>
            <a:off x="1901952" y="5093208"/>
            <a:ext cx="1920240" cy="118872"/>
          </a:xfrm>
          <a:prstGeom prst="roundRect">
            <a:avLst>
              <a:gd name="adj" fmla="val 46154"/>
            </a:avLst>
          </a:prstGeom>
          <a:solidFill>
            <a:srgbClr val="2A405A">
              <a:alpha val="94000"/>
            </a:srgbClr>
          </a:solidFill>
          <a:ln w="12700">
            <a:solidFill>
              <a:srgbClr val="C4D7E8">
                <a:alpha val="28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901952" y="5093208"/>
            <a:ext cx="1689811" cy="118872"/>
          </a:xfrm>
          <a:prstGeom prst="roundRect">
            <a:avLst>
              <a:gd name="adj" fmla="val 46154"/>
            </a:avLst>
          </a:prstGeom>
          <a:solidFill>
            <a:srgbClr val="FFCB55"/>
          </a:solidFill>
          <a:ln w="12700">
            <a:solidFill>
              <a:srgbClr val="FFCB55">
                <a:alpha val="8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913632" y="50292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88%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4590288" y="503834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夜市治理 / 文旅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6272784" y="5010912"/>
            <a:ext cx="1737360" cy="219456"/>
          </a:xfrm>
          <a:prstGeom prst="roundRect">
            <a:avLst>
              <a:gd name="adj" fmla="val 33333"/>
            </a:avLst>
          </a:prstGeom>
          <a:solidFill>
            <a:srgbClr val="8C6B1C"/>
          </a:solidFill>
          <a:ln w="12700">
            <a:solidFill>
              <a:srgbClr val="E1B74D">
                <a:alpha val="45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82512" y="5047488"/>
            <a:ext cx="15179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轻量试点，闭环最快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8705088" y="13898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4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真实招标区间</a:t>
            </a:r>
            <a:endParaRPr lang="en-US" sz="1700" dirty="0"/>
          </a:p>
        </p:txBody>
      </p:sp>
      <p:sp>
        <p:nvSpPr>
          <p:cNvPr id="73" name="Text 71"/>
          <p:cNvSpPr/>
          <p:nvPr/>
        </p:nvSpPr>
        <p:spPr>
          <a:xfrm>
            <a:off x="8686800" y="1682496"/>
            <a:ext cx="2706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8D1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优先看单夜市试点的启动门槛，而不是一上来做大平台。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8668512" y="2377440"/>
            <a:ext cx="2779776" cy="0"/>
          </a:xfrm>
          <a:prstGeom prst="line">
            <a:avLst/>
          </a:prstGeom>
          <a:noFill/>
          <a:ln w="12700">
            <a:solidFill>
              <a:srgbClr val="4F7290">
                <a:alpha val="30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759952" y="199339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海康平台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10168128" y="1993392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4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80-110 万元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8668512" y="2907792"/>
            <a:ext cx="2779776" cy="0"/>
          </a:xfrm>
          <a:prstGeom prst="line">
            <a:avLst/>
          </a:prstGeom>
          <a:noFill/>
          <a:ln w="12700">
            <a:solidFill>
              <a:srgbClr val="4F7290">
                <a:alpha val="3000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759952" y="252374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大华物联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10168128" y="2523744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4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72-102 万元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8668512" y="3438144"/>
            <a:ext cx="2779776" cy="0"/>
          </a:xfrm>
          <a:prstGeom prst="line">
            <a:avLst/>
          </a:prstGeom>
          <a:noFill/>
          <a:ln w="12700">
            <a:solidFill>
              <a:srgbClr val="4F7290">
                <a:alpha val="3000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759952" y="3054096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宇视安防</a:t>
            </a:r>
            <a:endParaRPr lang="en-US" sz="1300" dirty="0"/>
          </a:p>
        </p:txBody>
      </p:sp>
      <p:sp>
        <p:nvSpPr>
          <p:cNvPr id="82" name="Text 80"/>
          <p:cNvSpPr/>
          <p:nvPr/>
        </p:nvSpPr>
        <p:spPr>
          <a:xfrm>
            <a:off x="10168128" y="3054096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4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52-76 万元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8668512" y="3968496"/>
            <a:ext cx="2779776" cy="0"/>
          </a:xfrm>
          <a:prstGeom prst="line">
            <a:avLst/>
          </a:prstGeom>
          <a:noFill/>
          <a:ln w="12700">
            <a:solidFill>
              <a:srgbClr val="4F7290">
                <a:alpha val="30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759952" y="3584448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安保巡更</a:t>
            </a:r>
            <a:endParaRPr lang="en-US" sz="1300" dirty="0"/>
          </a:p>
        </p:txBody>
      </p:sp>
      <p:sp>
        <p:nvSpPr>
          <p:cNvPr id="85" name="Text 83"/>
          <p:cNvSpPr/>
          <p:nvPr/>
        </p:nvSpPr>
        <p:spPr>
          <a:xfrm>
            <a:off x="10168128" y="3584448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4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4-7 万元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8668512" y="4498848"/>
            <a:ext cx="2779776" cy="0"/>
          </a:xfrm>
          <a:prstGeom prst="line">
            <a:avLst/>
          </a:prstGeom>
          <a:noFill/>
          <a:ln w="12700">
            <a:solidFill>
              <a:srgbClr val="4F7290">
                <a:alpha val="3000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759952" y="4114800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D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烟火守夜人</a:t>
            </a:r>
            <a:endParaRPr lang="en-US" sz="1300" dirty="0"/>
          </a:p>
        </p:txBody>
      </p:sp>
      <p:sp>
        <p:nvSpPr>
          <p:cNvPr id="88" name="Text 86"/>
          <p:cNvSpPr/>
          <p:nvPr/>
        </p:nvSpPr>
        <p:spPr>
          <a:xfrm>
            <a:off x="10168128" y="4114800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D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万元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8650224" y="4160520"/>
            <a:ext cx="2816352" cy="603504"/>
          </a:xfrm>
          <a:prstGeom prst="roundRect">
            <a:avLst>
              <a:gd name="adj" fmla="val 18182"/>
            </a:avLst>
          </a:prstGeom>
          <a:solidFill>
            <a:srgbClr val="132A43">
              <a:alpha val="92000"/>
            </a:srgbClr>
          </a:solidFill>
          <a:ln w="12700">
            <a:solidFill>
              <a:srgbClr val="FFD466">
                <a:alpha val="94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3101D">
                <a:alpha val="24000"/>
              </a:srgbClr>
            </a:outerShdw>
          </a:effectLst>
        </p:spPr>
      </p:sp>
      <p:sp>
        <p:nvSpPr>
          <p:cNvPr id="90" name="Text 88"/>
          <p:cNvSpPr/>
          <p:nvPr/>
        </p:nvSpPr>
        <p:spPr>
          <a:xfrm>
            <a:off x="8769096" y="4361688"/>
            <a:ext cx="2578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D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竞品强在平台和设备，我们强在夜市场景与闭环落地</a:t>
            </a:r>
            <a:endParaRPr lang="en-US" sz="1030" dirty="0"/>
          </a:p>
        </p:txBody>
      </p:sp>
      <p:sp>
        <p:nvSpPr>
          <p:cNvPr id="91" name="Text 89"/>
          <p:cNvSpPr/>
          <p:nvPr/>
        </p:nvSpPr>
        <p:spPr>
          <a:xfrm>
            <a:off x="8705088" y="491947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4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落地打法</a:t>
            </a:r>
            <a:endParaRPr lang="en-US" sz="1550" dirty="0"/>
          </a:p>
        </p:txBody>
      </p:sp>
      <p:sp>
        <p:nvSpPr>
          <p:cNvPr id="92" name="Shape 90"/>
          <p:cNvSpPr/>
          <p:nvPr/>
        </p:nvSpPr>
        <p:spPr>
          <a:xfrm>
            <a:off x="8741664" y="5184648"/>
            <a:ext cx="310896" cy="192024"/>
          </a:xfrm>
          <a:prstGeom prst="roundRect">
            <a:avLst>
              <a:gd name="adj" fmla="val 28571"/>
            </a:avLst>
          </a:prstGeom>
          <a:solidFill>
            <a:srgbClr val="1B4A78"/>
          </a:solidFill>
          <a:ln w="12700">
            <a:solidFill>
              <a:srgbClr val="58B7EA">
                <a:alpha val="60000"/>
              </a:srgbClr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750808" y="5221224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9134856" y="5175504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4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存量接入</a:t>
            </a:r>
            <a:endParaRPr lang="en-US" sz="1040" dirty="0"/>
          </a:p>
        </p:txBody>
      </p:sp>
      <p:sp>
        <p:nvSpPr>
          <p:cNvPr id="95" name="Shape 93"/>
          <p:cNvSpPr/>
          <p:nvPr/>
        </p:nvSpPr>
        <p:spPr>
          <a:xfrm>
            <a:off x="8741664" y="5404104"/>
            <a:ext cx="310896" cy="192024"/>
          </a:xfrm>
          <a:prstGeom prst="roundRect">
            <a:avLst>
              <a:gd name="adj" fmla="val 28571"/>
            </a:avLst>
          </a:prstGeom>
          <a:solidFill>
            <a:srgbClr val="1B4A78"/>
          </a:solidFill>
          <a:ln w="12700">
            <a:solidFill>
              <a:srgbClr val="58B7EA">
                <a:alpha val="60000"/>
              </a:srgbClr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750808" y="5440680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9134856" y="5394960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4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三端打通</a:t>
            </a:r>
            <a:endParaRPr lang="en-US" sz="1040" dirty="0"/>
          </a:p>
        </p:txBody>
      </p:sp>
      <p:sp>
        <p:nvSpPr>
          <p:cNvPr id="98" name="Shape 96"/>
          <p:cNvSpPr/>
          <p:nvPr/>
        </p:nvSpPr>
        <p:spPr>
          <a:xfrm>
            <a:off x="8741664" y="5623560"/>
            <a:ext cx="310896" cy="192024"/>
          </a:xfrm>
          <a:prstGeom prst="roundRect">
            <a:avLst>
              <a:gd name="adj" fmla="val 28571"/>
            </a:avLst>
          </a:prstGeom>
          <a:solidFill>
            <a:srgbClr val="A47A18"/>
          </a:solidFill>
          <a:ln w="12700">
            <a:solidFill>
              <a:srgbClr val="FFD466">
                <a:alpha val="60000"/>
              </a:srgbClr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750808" y="5660136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9134856" y="5614416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4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先做试点</a:t>
            </a:r>
            <a:endParaRPr lang="en-US" sz="1040" dirty="0"/>
          </a:p>
        </p:txBody>
      </p:sp>
      <p:sp>
        <p:nvSpPr>
          <p:cNvPr id="101" name="Shape 99"/>
          <p:cNvSpPr/>
          <p:nvPr/>
        </p:nvSpPr>
        <p:spPr>
          <a:xfrm>
            <a:off x="310896" y="5833872"/>
            <a:ext cx="3611880" cy="768096"/>
          </a:xfrm>
          <a:prstGeom prst="roundRect">
            <a:avLst>
              <a:gd name="adj" fmla="val 14286"/>
            </a:avLst>
          </a:prstGeom>
          <a:solidFill>
            <a:srgbClr val="1B4A78">
              <a:alpha val="90000"/>
            </a:srgbClr>
          </a:solidFill>
          <a:ln w="12700">
            <a:solidFill>
              <a:srgbClr val="58B7EA">
                <a:alpha val="94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3101D">
                <a:alpha val="24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475488" y="5998464"/>
            <a:ext cx="329184" cy="329184"/>
          </a:xfrm>
          <a:prstGeom prst="roundRect">
            <a:avLst>
              <a:gd name="adj" fmla="val 33333"/>
            </a:avLst>
          </a:prstGeom>
          <a:solidFill>
            <a:srgbClr val="1F6DAA"/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75488" y="6099048"/>
            <a:ext cx="3291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886968" y="5971032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场景痛点</a:t>
            </a:r>
            <a:endParaRPr lang="en-US" sz="1450" dirty="0"/>
          </a:p>
        </p:txBody>
      </p:sp>
      <p:sp>
        <p:nvSpPr>
          <p:cNvPr id="105" name="Text 103"/>
          <p:cNvSpPr/>
          <p:nvPr/>
        </p:nvSpPr>
        <p:spPr>
          <a:xfrm>
            <a:off x="877824" y="6163056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B8D1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夜间客流密集</a:t>
            </a:r>
            <a:endParaRPr lang="en-US" sz="1040" dirty="0"/>
          </a:p>
        </p:txBody>
      </p:sp>
      <p:sp>
        <p:nvSpPr>
          <p:cNvPr id="106" name="Text 104"/>
          <p:cNvSpPr/>
          <p:nvPr/>
        </p:nvSpPr>
        <p:spPr>
          <a:xfrm>
            <a:off x="877824" y="6327648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B8D1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纠纷、扒窃、冲突高发</a:t>
            </a:r>
            <a:endParaRPr lang="en-US" sz="1040" dirty="0"/>
          </a:p>
        </p:txBody>
      </p:sp>
      <p:sp>
        <p:nvSpPr>
          <p:cNvPr id="107" name="Text 105"/>
          <p:cNvSpPr/>
          <p:nvPr/>
        </p:nvSpPr>
        <p:spPr>
          <a:xfrm>
            <a:off x="877824" y="6492240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B8D1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响应链条偏长</a:t>
            </a:r>
            <a:endParaRPr lang="en-US" sz="1040" dirty="0"/>
          </a:p>
        </p:txBody>
      </p:sp>
      <p:sp>
        <p:nvSpPr>
          <p:cNvPr id="108" name="Shape 106"/>
          <p:cNvSpPr/>
          <p:nvPr/>
        </p:nvSpPr>
        <p:spPr>
          <a:xfrm>
            <a:off x="4169664" y="5833872"/>
            <a:ext cx="3611880" cy="768096"/>
          </a:xfrm>
          <a:prstGeom prst="roundRect">
            <a:avLst>
              <a:gd name="adj" fmla="val 14286"/>
            </a:avLst>
          </a:prstGeom>
          <a:solidFill>
            <a:srgbClr val="163D66">
              <a:alpha val="90000"/>
            </a:srgbClr>
          </a:solidFill>
          <a:ln w="12700">
            <a:solidFill>
              <a:srgbClr val="58B7EA">
                <a:alpha val="94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3101D">
                <a:alpha val="24000"/>
              </a:srgbClr>
            </a:outerShdw>
          </a:effectLst>
        </p:spPr>
      </p:sp>
      <p:sp>
        <p:nvSpPr>
          <p:cNvPr id="109" name="Shape 107"/>
          <p:cNvSpPr/>
          <p:nvPr/>
        </p:nvSpPr>
        <p:spPr>
          <a:xfrm>
            <a:off x="4334256" y="5998464"/>
            <a:ext cx="329184" cy="329184"/>
          </a:xfrm>
          <a:prstGeom prst="roundRect">
            <a:avLst>
              <a:gd name="adj" fmla="val 33333"/>
            </a:avLst>
          </a:prstGeom>
          <a:solidFill>
            <a:srgbClr val="1F6DAA"/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334256" y="6099048"/>
            <a:ext cx="3291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50" dirty="0"/>
          </a:p>
        </p:txBody>
      </p:sp>
      <p:sp>
        <p:nvSpPr>
          <p:cNvPr id="111" name="Text 109"/>
          <p:cNvSpPr/>
          <p:nvPr/>
        </p:nvSpPr>
        <p:spPr>
          <a:xfrm>
            <a:off x="4745736" y="5971032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产品闭环</a:t>
            </a:r>
            <a:endParaRPr lang="en-US" sz="1450" dirty="0"/>
          </a:p>
        </p:txBody>
      </p:sp>
      <p:sp>
        <p:nvSpPr>
          <p:cNvPr id="112" name="Text 110"/>
          <p:cNvSpPr/>
          <p:nvPr/>
        </p:nvSpPr>
        <p:spPr>
          <a:xfrm>
            <a:off x="4736592" y="6163056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B8D1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群众上报</a:t>
            </a:r>
            <a:endParaRPr lang="en-US" sz="1040" dirty="0"/>
          </a:p>
        </p:txBody>
      </p:sp>
      <p:sp>
        <p:nvSpPr>
          <p:cNvPr id="113" name="Text 111"/>
          <p:cNvSpPr/>
          <p:nvPr/>
        </p:nvSpPr>
        <p:spPr>
          <a:xfrm>
            <a:off x="4736592" y="6327648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B8D1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巡防接单</a:t>
            </a:r>
            <a:endParaRPr lang="en-US" sz="1040" dirty="0"/>
          </a:p>
        </p:txBody>
      </p:sp>
      <p:sp>
        <p:nvSpPr>
          <p:cNvPr id="114" name="Text 112"/>
          <p:cNvSpPr/>
          <p:nvPr/>
        </p:nvSpPr>
        <p:spPr>
          <a:xfrm>
            <a:off x="4736592" y="6492240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B8D1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后台留痕复盘</a:t>
            </a:r>
            <a:endParaRPr lang="en-US" sz="1040" dirty="0"/>
          </a:p>
        </p:txBody>
      </p:sp>
      <p:sp>
        <p:nvSpPr>
          <p:cNvPr id="115" name="Shape 113"/>
          <p:cNvSpPr/>
          <p:nvPr/>
        </p:nvSpPr>
        <p:spPr>
          <a:xfrm>
            <a:off x="8028432" y="5833872"/>
            <a:ext cx="3611880" cy="768096"/>
          </a:xfrm>
          <a:prstGeom prst="roundRect">
            <a:avLst>
              <a:gd name="adj" fmla="val 14286"/>
            </a:avLst>
          </a:prstGeom>
          <a:solidFill>
            <a:srgbClr val="513B16">
              <a:alpha val="90000"/>
            </a:srgbClr>
          </a:solidFill>
          <a:ln w="12700">
            <a:solidFill>
              <a:srgbClr val="FFD466">
                <a:alpha val="94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3101D">
                <a:alpha val="24000"/>
              </a:srgbClr>
            </a:outerShdw>
          </a:effectLst>
        </p:spPr>
      </p:sp>
      <p:sp>
        <p:nvSpPr>
          <p:cNvPr id="116" name="Shape 114"/>
          <p:cNvSpPr/>
          <p:nvPr/>
        </p:nvSpPr>
        <p:spPr>
          <a:xfrm>
            <a:off x="8193024" y="5998464"/>
            <a:ext cx="329184" cy="329184"/>
          </a:xfrm>
          <a:prstGeom prst="roundRect">
            <a:avLst>
              <a:gd name="adj" fmla="val 33333"/>
            </a:avLst>
          </a:prstGeom>
          <a:solidFill>
            <a:srgbClr val="A47A18"/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8193024" y="6099048"/>
            <a:ext cx="3291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50" dirty="0"/>
          </a:p>
        </p:txBody>
      </p:sp>
      <p:sp>
        <p:nvSpPr>
          <p:cNvPr id="118" name="Text 116"/>
          <p:cNvSpPr/>
          <p:nvPr/>
        </p:nvSpPr>
        <p:spPr>
          <a:xfrm>
            <a:off x="8604504" y="5971032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落地路径</a:t>
            </a:r>
            <a:endParaRPr lang="en-US" sz="1450" dirty="0"/>
          </a:p>
        </p:txBody>
      </p:sp>
      <p:sp>
        <p:nvSpPr>
          <p:cNvPr id="119" name="Text 117"/>
          <p:cNvSpPr/>
          <p:nvPr/>
        </p:nvSpPr>
        <p:spPr>
          <a:xfrm>
            <a:off x="8595360" y="6163056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B8D1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先试点一个夜市</a:t>
            </a:r>
            <a:endParaRPr lang="en-US" sz="1040" dirty="0"/>
          </a:p>
        </p:txBody>
      </p:sp>
      <p:sp>
        <p:nvSpPr>
          <p:cNvPr id="120" name="Text 118"/>
          <p:cNvSpPr/>
          <p:nvPr/>
        </p:nvSpPr>
        <p:spPr>
          <a:xfrm>
            <a:off x="8595360" y="6327648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B8D1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接入存量设备</a:t>
            </a:r>
            <a:endParaRPr lang="en-US" sz="1040" dirty="0"/>
          </a:p>
        </p:txBody>
      </p:sp>
      <p:sp>
        <p:nvSpPr>
          <p:cNvPr id="121" name="Text 119"/>
          <p:cNvSpPr/>
          <p:nvPr/>
        </p:nvSpPr>
        <p:spPr>
          <a:xfrm>
            <a:off x="8595360" y="6492240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FD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可对接海康 / 大华 / 宇视</a:t>
            </a:r>
            <a:endParaRPr lang="en-US" sz="10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CICSIC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竞品分析优化页</dc:title>
  <dc:subject>竞品分析优化页</dc:subject>
  <dc:creator>Codex</dc:creator>
  <cp:lastModifiedBy>Codex</cp:lastModifiedBy>
  <cp:revision>1</cp:revision>
  <dcterms:created xsi:type="dcterms:W3CDTF">2026-08-29T09:33:50Z</dcterms:created>
  <dcterms:modified xsi:type="dcterms:W3CDTF">2026-08-29T09:33:50Z</dcterms:modified>
</cp:coreProperties>
</file>